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Quantico"/>
      <p:regular r:id="rId20"/>
      <p:bold r:id="rId21"/>
      <p:italic r:id="rId22"/>
      <p:boldItalic r:id="rId23"/>
    </p:embeddedFont>
    <p:embeddedFont>
      <p:font typeface="Raleway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ntico-regular.fntdata"/><Relationship Id="rId22" Type="http://schemas.openxmlformats.org/officeDocument/2006/relationships/font" Target="fonts/Quantico-italic.fntdata"/><Relationship Id="rId21" Type="http://schemas.openxmlformats.org/officeDocument/2006/relationships/font" Target="fonts/Quantico-bold.fntdata"/><Relationship Id="rId24" Type="http://schemas.openxmlformats.org/officeDocument/2006/relationships/font" Target="fonts/Raleway-regular.fntdata"/><Relationship Id="rId23" Type="http://schemas.openxmlformats.org/officeDocument/2006/relationships/font" Target="fonts/Quantic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Lato-regular.fntdata"/><Relationship Id="rId27" Type="http://schemas.openxmlformats.org/officeDocument/2006/relationships/font" Target="fonts/Raleway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5725abd2b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f5725abd2b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5725abd2b_4_1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f5725abd2b_4_1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f5725abd2b_4_1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f5725abd2b_4_1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5725abd2b_4_1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f5725abd2b_4_1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f5725abd2b_4_1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f5725abd2b_4_1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f5725abd2b_4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f5725abd2b_4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f5725abd2b_9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f5725abd2b_9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5725abd2b_9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f5725abd2b_9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f5725abd2b_4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f5725abd2b_4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5725abd2b_4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f5725abd2b_4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f5725abd2b_4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f5725abd2b_4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5725abd2b_9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f5725abd2b_9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5725abd2b_4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f5725abd2b_4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9" name="Google Shape;89;p14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4" name="Google Shape;94;p15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4" name="Google Shape;104;p16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09" name="Google Shape;109;p16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1" name="Google Shape;111;p16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2" name="Google Shape;112;p16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3" name="Google Shape;113;p16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8" name="Google Shape;118;p17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9" name="Google Shape;119;p17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0" name="Google Shape;120;p17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1" name="Google Shape;121;p17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2" name="Google Shape;122;p17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3" name="Google Shape;123;p17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4" name="Google Shape;124;p17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9" name="Google Shape;129;p18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0" name="Google Shape;130;p18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1" name="Google Shape;131;p18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8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135" name="Google Shape;135;p18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6" name="Google Shape;136;p18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9" name="Google Shape;139;p19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1" name="Google Shape;141;p19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49" name="Google Shape;149;p20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5" name="Google Shape;155;p21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56" name="Google Shape;156;p21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7" name="Google Shape;157;p21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2" name="Google Shape;162;p22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3" name="Google Shape;163;p22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22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165" name="Google Shape;165;p22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9" name="Google Shape;169;p23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70" name="Google Shape;170;p23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1" name="Google Shape;171;p23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72" name="Google Shape;172;p23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73" name="Google Shape;173;p23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4" name="Google Shape;174;p23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5" name="Google Shape;175;p23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6" name="Google Shape;176;p23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23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23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4"/>
          <p:cNvPicPr preferRelativeResize="0"/>
          <p:nvPr/>
        </p:nvPicPr>
        <p:blipFill rotWithShape="1">
          <a:blip r:embed="rId2">
            <a:alphaModFix amt="10000"/>
          </a:blip>
          <a:srcRect b="0" l="789" r="12433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81" name="Google Shape;181;p24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2" name="Google Shape;182;p24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3" name="Google Shape;183;p24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4" name="Google Shape;184;p24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" name="Google Shape;185;p24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24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0" name="Google Shape;190;p25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1" name="Google Shape;191;p25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25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4" name="Google Shape;194;p25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5" name="Google Shape;195;p25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6" name="Google Shape;196;p25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7" name="Google Shape;197;p25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98" name="Google Shape;198;p25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25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00" name="Google Shape;200;p25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1" name="Google Shape;201;p25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04" name="Google Shape;204;p26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205" name="Google Shape;205;p26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206" name="Google Shape;206;p26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08" name="Google Shape;208;p26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9" name="Google Shape;209;p26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0" name="Google Shape;210;p26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11" name="Google Shape;211;p26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14" name="Google Shape;214;p27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15" name="Google Shape;215;p27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16" name="Google Shape;216;p27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17" name="Google Shape;217;p27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18" name="Google Shape;218;p27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19" name="Google Shape;219;p27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0" name="Google Shape;220;p27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7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7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7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27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27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27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7" name="Google Shape;227;p27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27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27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0" name="Google Shape;230;p27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27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27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5" name="Google Shape;235;p28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6" name="Google Shape;236;p28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7" name="Google Shape;237;p28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8" name="Google Shape;238;p28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9" name="Google Shape;239;p28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0" name="Google Shape;240;p28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1" name="Google Shape;241;p28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2" name="Google Shape;242;p28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3" name="Google Shape;243;p28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4" name="Google Shape;244;p28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9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8" name="Google Shape;248;p29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9" name="Google Shape;249;p29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0" name="Google Shape;250;p29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1" name="Google Shape;251;p29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2" name="Google Shape;252;p29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3" name="Google Shape;253;p29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4" name="Google Shape;254;p29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9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6" name="Google Shape;256;p29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7" name="Google Shape;257;p29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8" name="Google Shape;258;p29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9" name="Google Shape;259;p29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0" name="Google Shape;260;p29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1" name="Google Shape;261;p29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2" name="Google Shape;262;p29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3" name="Google Shape;263;p29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4" name="Google Shape;264;p29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5" name="Google Shape;265;p29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8" name="Google Shape;268;p30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9" name="Google Shape;269;p30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0" name="Google Shape;270;p30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1" name="Google Shape;271;p30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2" name="Google Shape;272;p30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3" name="Google Shape;273;p30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4" name="Google Shape;274;p30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5" name="Google Shape;275;p30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6" name="Google Shape;276;p30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7" name="Google Shape;277;p30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8" name="Google Shape;278;p30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9" name="Google Shape;279;p30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0" name="Google Shape;280;p30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1" name="Google Shape;281;p30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2" name="Google Shape;282;p30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3" name="Google Shape;283;p30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4" name="Google Shape;284;p30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5" name="Google Shape;285;p30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0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7" name="Google Shape;287;p30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30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0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0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0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1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94" name="Google Shape;294;p31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5" name="Google Shape;295;p31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31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7" name="Google Shape;297;p31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8" name="Google Shape;298;p31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9" name="Google Shape;299;p31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0" name="Google Shape;300;p31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01" name="Google Shape;301;p31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2" name="Google Shape;302;p31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3" name="Google Shape;303;p31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4" name="Google Shape;304;p31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5" name="Google Shape;305;p31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6" name="Google Shape;306;p31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7" name="Google Shape;307;p31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-GB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0" name="Google Shape;310;p3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1" name="Google Shape;311;p3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2" name="Google Shape;312;p32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3" name="Google Shape;313;p32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4" name="Google Shape;314;p32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32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6" name="Google Shape;316;p32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7" name="Google Shape;317;p32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8" name="Google Shape;318;p32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9" name="Google Shape;319;p32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0" name="Google Shape;320;p32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1" name="Google Shape;321;p32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4" name="Google Shape;324;p33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5" name="Google Shape;325;p33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6" name="Google Shape;326;p33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7" name="Google Shape;327;p33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8" name="Google Shape;328;p33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9" name="Google Shape;329;p33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0" name="Google Shape;330;p33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31" name="Google Shape;331;p33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2" name="Google Shape;332;p33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4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-GB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5" name="Google Shape;335;p34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36" name="Google Shape;336;p34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7" name="Google Shape;337;p34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38" name="Google Shape;338;p34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9" name="Google Shape;339;p34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0" name="Google Shape;340;p34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1" name="Google Shape;341;p34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2" name="Google Shape;342;p34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3" name="Google Shape;343;p34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4" name="Google Shape;344;p34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5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7" name="Google Shape;347;p35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8" name="Google Shape;348;p35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9" name="Google Shape;349;p35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50" name="Google Shape;350;p35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51" name="Google Shape;351;p35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52" name="Google Shape;352;p35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53" name="Google Shape;353;p35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54" name="Google Shape;354;p35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55" name="Google Shape;355;p35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56" name="Google Shape;356;p35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57" name="Google Shape;357;p35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58" name="Google Shape;358;p35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59" name="Google Shape;359;p35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60" name="Google Shape;360;p35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61" name="Google Shape;361;p35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62" name="Google Shape;362;p35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63" name="Google Shape;363;p35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64" name="Google Shape;364;p35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65" name="Google Shape;365;p35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66" name="Google Shape;366;p35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67" name="Google Shape;367;p35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68" name="Google Shape;368;p35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69" name="Google Shape;369;p35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70" name="Google Shape;370;p35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71" name="Google Shape;371;p35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6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74" name="Google Shape;374;p36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75" name="Google Shape;375;p36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76" name="Google Shape;376;p36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77" name="Google Shape;377;p36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78" name="Google Shape;378;p36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79" name="Google Shape;379;p36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80" name="Google Shape;380;p36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81" name="Google Shape;381;p36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84" name="Google Shape;384;p37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85" name="Google Shape;385;p37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86" name="Google Shape;386;p37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8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89" name="Google Shape;389;p38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0" name="Google Shape;390;p38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1" name="Google Shape;391;p38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92" name="Google Shape;392;p38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93" name="Google Shape;393;p38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94" name="Google Shape;394;p38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95" name="Google Shape;395;p38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96" name="Google Shape;396;p38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97" name="Google Shape;397;p38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98" name="Google Shape;398;p38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99" name="Google Shape;399;p38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00" name="Google Shape;400;p38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9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3" name="Google Shape;403;p39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4" name="Google Shape;404;p39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5" name="Google Shape;405;p39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6" name="Google Shape;406;p39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407" name="Google Shape;407;p39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39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09" name="Google Shape;409;p39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10" name="Google Shape;410;p39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5" name="Google Shape;41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5" name="Google Shape;425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6" name="Google Shape;426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1" name="Google Shape;431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5" name="Google Shape;435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6" name="Google Shape;436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7" name="Google Shape;437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8" name="Google Shape;438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9" name="Google Shape;439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3" name="Google Shape;443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7" name="Google Shape;447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8" name="Google Shape;448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9" name="Google Shape;449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0" name="Google Shape;450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3" name="Google Shape;453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4" name="Google Shape;454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5" name="Google Shape;455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6" name="Google Shape;456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7" name="Google Shape;457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8" name="Google Shape;458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1" name="Google Shape;461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2" name="Google Shape;462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3" name="Google Shape;463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4" name="Google Shape;464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5" name="Google Shape;465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6" name="Google Shape;466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7" name="Google Shape;467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8" name="Google Shape;468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1" name="Google Shape;471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4" name="Google Shape;474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7" name="Google Shape;477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8" name="Google Shape;478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9" name="Google Shape;479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2" name="Google Shape;482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3" name="Google Shape;483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4" name="Google Shape;484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5" name="Google Shape;485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6" name="Google Shape;486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7" name="Google Shape;487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8" name="Google Shape;488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9" name="Google Shape;489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0" name="Google Shape;490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7" name="Google Shape;497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1" name="Google Shape;501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9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9" name="Google Shape;509;p59"/>
          <p:cNvSpPr txBox="1"/>
          <p:nvPr>
            <p:ph type="title"/>
          </p:nvPr>
        </p:nvSpPr>
        <p:spPr>
          <a:xfrm>
            <a:off x="958450" y="1427175"/>
            <a:ext cx="4124100" cy="264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5200"/>
              <a:t>SMART CONTRACT SECURITY AUDITOR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000"/>
          </a:p>
        </p:txBody>
      </p:sp>
      <p:sp>
        <p:nvSpPr>
          <p:cNvPr id="510" name="Google Shape;510;p59"/>
          <p:cNvSpPr txBox="1"/>
          <p:nvPr/>
        </p:nvSpPr>
        <p:spPr>
          <a:xfrm>
            <a:off x="5463825" y="1323750"/>
            <a:ext cx="43875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r>
              <a:rPr lang="en-GB" sz="1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PROJECT GUIDE </a:t>
            </a:r>
            <a:endParaRPr sz="1800">
              <a:solidFill>
                <a:schemeClr val="accent6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6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       Ms. </a:t>
            </a:r>
            <a:r>
              <a:rPr lang="en-GB" sz="15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rPr>
              <a:t>Suvarna Dev</a:t>
            </a:r>
            <a:endParaRPr sz="21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1" name="Google Shape;511;p59"/>
          <p:cNvSpPr txBox="1"/>
          <p:nvPr>
            <p:ph type="title"/>
          </p:nvPr>
        </p:nvSpPr>
        <p:spPr>
          <a:xfrm>
            <a:off x="5463825" y="2560300"/>
            <a:ext cx="3568800" cy="231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GB" sz="1800">
                <a:solidFill>
                  <a:schemeClr val="accent6"/>
                </a:solidFill>
              </a:rPr>
              <a:t>  </a:t>
            </a:r>
            <a:r>
              <a:rPr lang="en-GB" sz="1800">
                <a:solidFill>
                  <a:schemeClr val="accent6"/>
                </a:solidFill>
              </a:rPr>
              <a:t>TEAM MEMBERS</a:t>
            </a:r>
            <a:endParaRPr sz="18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sz="18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6"/>
                </a:solidFill>
              </a:rPr>
              <a:t>   </a:t>
            </a:r>
            <a:r>
              <a:rPr lang="en-GB" sz="1500">
                <a:solidFill>
                  <a:schemeClr val="accent6"/>
                </a:solidFill>
              </a:rPr>
              <a:t>   Abel S Mathew (CHN23CS004)</a:t>
            </a:r>
            <a:endParaRPr sz="15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accent6"/>
                </a:solidFill>
              </a:rPr>
              <a:t>      Abraham Santhosh (CHN23CS013)</a:t>
            </a:r>
            <a:endParaRPr sz="15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accent6"/>
                </a:solidFill>
              </a:rPr>
              <a:t>      Diya Pauly (CHN23CS073)</a:t>
            </a:r>
            <a:endParaRPr sz="15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accent6"/>
                </a:solidFill>
              </a:rPr>
              <a:t>      Megha Ajith (CHN23CS128)</a:t>
            </a:r>
            <a:endParaRPr sz="15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accent6"/>
                </a:solidFill>
              </a:rPr>
              <a:t>      </a:t>
            </a:r>
            <a:endParaRPr sz="36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0"/>
          <p:cNvSpPr txBox="1"/>
          <p:nvPr/>
        </p:nvSpPr>
        <p:spPr>
          <a:xfrm>
            <a:off x="194825" y="1314225"/>
            <a:ext cx="3177600" cy="21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GB"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ABSTRACT</a:t>
            </a:r>
            <a:endParaRPr sz="3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7" name="Google Shape;517;p60"/>
          <p:cNvSpPr txBox="1"/>
          <p:nvPr/>
        </p:nvSpPr>
        <p:spPr>
          <a:xfrm>
            <a:off x="3606125" y="177500"/>
            <a:ext cx="52536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This project addresses the critical challenge of security vulnerabilities in blockchain smart contracts through the development of an autonomous, command-line interface (CLI)-driven developer tool optimized for vulnerability detection</a:t>
            </a:r>
            <a:r>
              <a:rPr lang="en-GB" sz="1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8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8" name="Google Shape;518;p60"/>
          <p:cNvSpPr txBox="1"/>
          <p:nvPr/>
        </p:nvSpPr>
        <p:spPr>
          <a:xfrm>
            <a:off x="3655325" y="1741325"/>
            <a:ext cx="51552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The system leverages an adversarial multi-agent Large Language Model (LLM) pipeline to scan Solidity source code for complex logic flaws such as reentrancy and access-control violations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9" name="Google Shape;519;p60"/>
          <p:cNvSpPr txBox="1"/>
          <p:nvPr/>
        </p:nvSpPr>
        <p:spPr>
          <a:xfrm>
            <a:off x="3727925" y="3471525"/>
            <a:ext cx="5010000" cy="15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By implementing a game-theoretic Multi-Agent Debate Protocol, the solution drastically reduces false-positive noise compared to traditional static-analysis tools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1"/>
          <p:cNvSpPr/>
          <p:nvPr/>
        </p:nvSpPr>
        <p:spPr>
          <a:xfrm>
            <a:off x="6709050" y="1972550"/>
            <a:ext cx="2442000" cy="3177900"/>
          </a:xfrm>
          <a:prstGeom prst="snip1Rect">
            <a:avLst>
              <a:gd fmla="val 1783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5" name="Google Shape;525;p61"/>
          <p:cNvSpPr/>
          <p:nvPr/>
        </p:nvSpPr>
        <p:spPr>
          <a:xfrm>
            <a:off x="4531622" y="1972550"/>
            <a:ext cx="2177400" cy="3177900"/>
          </a:xfrm>
          <a:prstGeom prst="snip1Rect">
            <a:avLst>
              <a:gd fmla="val 1783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6" name="Google Shape;526;p61"/>
          <p:cNvSpPr/>
          <p:nvPr/>
        </p:nvSpPr>
        <p:spPr>
          <a:xfrm>
            <a:off x="0" y="1980050"/>
            <a:ext cx="2350500" cy="3177900"/>
          </a:xfrm>
          <a:prstGeom prst="snip1Rect">
            <a:avLst>
              <a:gd fmla="val 1783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7" name="Google Shape;527;p61"/>
          <p:cNvSpPr/>
          <p:nvPr/>
        </p:nvSpPr>
        <p:spPr>
          <a:xfrm>
            <a:off x="2350500" y="1972550"/>
            <a:ext cx="2185500" cy="3177900"/>
          </a:xfrm>
          <a:prstGeom prst="snip1Rect">
            <a:avLst>
              <a:gd fmla="val 1783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8" name="Google Shape;528;p61"/>
          <p:cNvSpPr txBox="1"/>
          <p:nvPr>
            <p:ph type="title"/>
          </p:nvPr>
        </p:nvSpPr>
        <p:spPr>
          <a:xfrm>
            <a:off x="2049150" y="474675"/>
            <a:ext cx="5045700" cy="1039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000">
                <a:solidFill>
                  <a:schemeClr val="accent5"/>
                </a:solidFill>
              </a:rPr>
              <a:t>INTRODUCTION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29" name="Google Shape;529;p61"/>
          <p:cNvSpPr txBox="1"/>
          <p:nvPr>
            <p:ph idx="2" type="title"/>
          </p:nvPr>
        </p:nvSpPr>
        <p:spPr>
          <a:xfrm>
            <a:off x="375150" y="2225725"/>
            <a:ext cx="1600200" cy="232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lang="en-GB" sz="1400">
                <a:latin typeface="Lato"/>
                <a:ea typeface="Lato"/>
                <a:cs typeface="Lato"/>
                <a:sym typeface="Lato"/>
              </a:rPr>
              <a:t>Sm</a:t>
            </a:r>
            <a:r>
              <a:rPr lang="en-GB" sz="1400">
                <a:latin typeface="Lato"/>
                <a:ea typeface="Lato"/>
                <a:cs typeface="Lato"/>
                <a:sym typeface="Lato"/>
              </a:rPr>
              <a:t>art contracts dictate the flow of millions of dollars in decentralized networks, but their code is immutable once deployed.</a:t>
            </a:r>
            <a:endParaRPr sz="1400"/>
          </a:p>
        </p:txBody>
      </p:sp>
      <p:sp>
        <p:nvSpPr>
          <p:cNvPr id="530" name="Google Shape;530;p61"/>
          <p:cNvSpPr txBox="1"/>
          <p:nvPr>
            <p:ph idx="4" type="title"/>
          </p:nvPr>
        </p:nvSpPr>
        <p:spPr>
          <a:xfrm>
            <a:off x="2668388" y="2190325"/>
            <a:ext cx="1722300" cy="2190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Lato"/>
                <a:ea typeface="Lato"/>
                <a:cs typeface="Lato"/>
                <a:sym typeface="Lato"/>
              </a:rPr>
              <a:t>A single unpatched vulnerability can lead to immediate and irreversible financial exploits.</a:t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1" name="Google Shape;531;p61"/>
          <p:cNvSpPr txBox="1"/>
          <p:nvPr>
            <p:ph idx="6" type="title"/>
          </p:nvPr>
        </p:nvSpPr>
        <p:spPr>
          <a:xfrm>
            <a:off x="4708600" y="2225725"/>
            <a:ext cx="1722300" cy="232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Lato"/>
                <a:ea typeface="Lato"/>
                <a:cs typeface="Lato"/>
                <a:sym typeface="Lato"/>
              </a:rPr>
              <a:t>Ensuring code safety is paramount, but current auditing processes are slow, manual, and prone to human error.</a:t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32" name="Google Shape;532;p61"/>
          <p:cNvSpPr txBox="1"/>
          <p:nvPr>
            <p:ph idx="8" type="title"/>
          </p:nvPr>
        </p:nvSpPr>
        <p:spPr>
          <a:xfrm>
            <a:off x="6938550" y="2190325"/>
            <a:ext cx="2185500" cy="2394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Lato"/>
                <a:ea typeface="Lato"/>
                <a:cs typeface="Lato"/>
                <a:sym typeface="Lato"/>
              </a:rPr>
              <a:t>This terminal-based  AI tool integrates into programming workflows to provide real-time, high-precision security reviews before deployment. </a:t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2"/>
          <p:cNvSpPr txBox="1"/>
          <p:nvPr>
            <p:ph type="title"/>
          </p:nvPr>
        </p:nvSpPr>
        <p:spPr>
          <a:xfrm>
            <a:off x="733225" y="815400"/>
            <a:ext cx="44790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>
                <a:solidFill>
                  <a:schemeClr val="accent6"/>
                </a:solidFill>
              </a:rPr>
              <a:t>Problem Statement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38" name="Google Shape;538;p62"/>
          <p:cNvSpPr txBox="1"/>
          <p:nvPr>
            <p:ph idx="2" type="title"/>
          </p:nvPr>
        </p:nvSpPr>
        <p:spPr>
          <a:xfrm>
            <a:off x="733225" y="1771425"/>
            <a:ext cx="46977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6"/>
                </a:solidFill>
              </a:rPr>
              <a:t>Public blockchain smart contracts are prone to severe security and logic flaws that cause massive financial exploits. Traditional static-analysis tools fail to grasp business context, resulting in high false-positive rates that hinder developers and allow critical bugs to reach production.</a:t>
            </a:r>
            <a:endParaRPr/>
          </a:p>
        </p:txBody>
      </p:sp>
      <p:sp>
        <p:nvSpPr>
          <p:cNvPr descr="An exclamation mark icon" id="539" name="Google Shape;539;p62"/>
          <p:cNvSpPr txBox="1"/>
          <p:nvPr/>
        </p:nvSpPr>
        <p:spPr>
          <a:xfrm>
            <a:off x="6665927" y="3103597"/>
            <a:ext cx="813300" cy="1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t/>
            </a:r>
            <a:endParaRPr sz="7200">
              <a:solidFill>
                <a:schemeClr val="accent4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3"/>
          <p:cNvSpPr/>
          <p:nvPr/>
        </p:nvSpPr>
        <p:spPr>
          <a:xfrm>
            <a:off x="4816250" y="2209402"/>
            <a:ext cx="3354000" cy="979200"/>
          </a:xfrm>
          <a:prstGeom prst="snip1Rect">
            <a:avLst>
              <a:gd fmla="val 24462" name="adj"/>
            </a:avLst>
          </a:prstGeom>
          <a:solidFill>
            <a:schemeClr val="accen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5" name="Google Shape;545;p63"/>
          <p:cNvSpPr/>
          <p:nvPr/>
        </p:nvSpPr>
        <p:spPr>
          <a:xfrm>
            <a:off x="4816250" y="3488200"/>
            <a:ext cx="3354000" cy="979200"/>
          </a:xfrm>
          <a:prstGeom prst="snip1Rect">
            <a:avLst>
              <a:gd fmla="val 24462" name="adj"/>
            </a:avLst>
          </a:prstGeom>
          <a:solidFill>
            <a:schemeClr val="accen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6" name="Google Shape;546;p63"/>
          <p:cNvSpPr/>
          <p:nvPr/>
        </p:nvSpPr>
        <p:spPr>
          <a:xfrm>
            <a:off x="4816250" y="1365575"/>
            <a:ext cx="3354000" cy="615000"/>
          </a:xfrm>
          <a:prstGeom prst="snip1Rect">
            <a:avLst>
              <a:gd fmla="val 2446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47" name="Google Shape;547;p63"/>
          <p:cNvSpPr txBox="1"/>
          <p:nvPr>
            <p:ph type="title"/>
          </p:nvPr>
        </p:nvSpPr>
        <p:spPr>
          <a:xfrm>
            <a:off x="470375" y="563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3500">
                <a:solidFill>
                  <a:schemeClr val="lt1"/>
                </a:solidFill>
              </a:rPr>
              <a:t>Existing System</a:t>
            </a:r>
            <a:endParaRPr sz="3500">
              <a:solidFill>
                <a:schemeClr val="lt1"/>
              </a:solidFill>
            </a:endParaRPr>
          </a:p>
        </p:txBody>
      </p:sp>
      <p:sp>
        <p:nvSpPr>
          <p:cNvPr id="548" name="Google Shape;548;p63"/>
          <p:cNvSpPr txBox="1"/>
          <p:nvPr>
            <p:ph idx="2" type="title"/>
          </p:nvPr>
        </p:nvSpPr>
        <p:spPr>
          <a:xfrm>
            <a:off x="521250" y="1511575"/>
            <a:ext cx="3511200" cy="3071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➔"/>
            </a:pPr>
            <a:r>
              <a:rPr lang="en-GB">
                <a:solidFill>
                  <a:schemeClr val="lt1"/>
                </a:solidFill>
              </a:rPr>
              <a:t>Current security workflows rely heavily on traditional static-analysis tools (like basic Slither or Mythril) acting independently.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➔"/>
            </a:pPr>
            <a:r>
              <a:rPr lang="en-GB">
                <a:solidFill>
                  <a:schemeClr val="lt1"/>
                </a:solidFill>
              </a:rPr>
              <a:t>These tools perform deterministic structural parsing but lack the contextual reasoning required to understand complex business logic.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descr="Upcoming milestone description" id="549" name="Google Shape;549;p63"/>
          <p:cNvSpPr txBox="1"/>
          <p:nvPr>
            <p:ph idx="8" type="title"/>
          </p:nvPr>
        </p:nvSpPr>
        <p:spPr>
          <a:xfrm>
            <a:off x="5412200" y="8082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500">
                <a:latin typeface="Quantico"/>
                <a:ea typeface="Quantico"/>
                <a:cs typeface="Quantico"/>
                <a:sym typeface="Quantico"/>
              </a:rPr>
              <a:t>Drawbacks </a:t>
            </a:r>
            <a:endParaRPr sz="2500"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descr="Upcoming milestone description" id="550" name="Google Shape;550;p63"/>
          <p:cNvSpPr txBox="1"/>
          <p:nvPr>
            <p:ph idx="6" type="title"/>
          </p:nvPr>
        </p:nvSpPr>
        <p:spPr>
          <a:xfrm>
            <a:off x="5128700" y="1524000"/>
            <a:ext cx="25602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>
                <a:solidFill>
                  <a:schemeClr val="accent6"/>
                </a:solidFill>
              </a:rPr>
              <a:t>High false-positive alarm rates. 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descr="Upcoming milestone description" id="551" name="Google Shape;551;p63"/>
          <p:cNvSpPr txBox="1"/>
          <p:nvPr>
            <p:ph idx="3" type="title"/>
          </p:nvPr>
        </p:nvSpPr>
        <p:spPr>
          <a:xfrm>
            <a:off x="5128700" y="3734275"/>
            <a:ext cx="27291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>
                <a:solidFill>
                  <a:schemeClr val="accent6"/>
                </a:solidFill>
              </a:rPr>
              <a:t>Requires developers to manually patch discovered vulnerabilities with no automated assistance. 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52" name="Google Shape;552;p63"/>
          <p:cNvSpPr txBox="1"/>
          <p:nvPr>
            <p:ph idx="4" type="title"/>
          </p:nvPr>
        </p:nvSpPr>
        <p:spPr>
          <a:xfrm>
            <a:off x="5156450" y="2425088"/>
            <a:ext cx="26736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accent6"/>
                </a:solidFill>
              </a:rPr>
              <a:t>Inability to distinguish between a safe architectural pattern and a genuine exploit. 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4"/>
          <p:cNvSpPr txBox="1"/>
          <p:nvPr>
            <p:ph type="title"/>
          </p:nvPr>
        </p:nvSpPr>
        <p:spPr>
          <a:xfrm>
            <a:off x="418150" y="279675"/>
            <a:ext cx="50406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3000"/>
              <a:t>Proposed System</a:t>
            </a:r>
            <a:endParaRPr sz="3000"/>
          </a:p>
        </p:txBody>
      </p:sp>
      <p:sp>
        <p:nvSpPr>
          <p:cNvPr id="558" name="Google Shape;558;p64"/>
          <p:cNvSpPr txBox="1"/>
          <p:nvPr>
            <p:ph idx="2" type="title"/>
          </p:nvPr>
        </p:nvSpPr>
        <p:spPr>
          <a:xfrm>
            <a:off x="418150" y="958200"/>
            <a:ext cx="4850100" cy="30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-GB" sz="1400"/>
              <a:t> We propose an autonomous, CLI-driven developer tool operating entirely within a high-performance terminal stream.</a:t>
            </a:r>
            <a:endParaRPr sz="14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-GB" sz="1400"/>
              <a:t>The system utilizes Slither as a foundational triage layer to extract concrete syntax facts and map vulnerability zones.</a:t>
            </a:r>
            <a:endParaRPr sz="14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-GB" sz="1400"/>
              <a:t>An internal Multi-Agent Debate Protocol is implemented where a Prosecutor and a Defender agent argue code defects.</a:t>
            </a:r>
            <a:endParaRPr sz="14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➔"/>
            </a:pPr>
            <a:r>
              <a:rPr lang="en-GB" sz="1400"/>
              <a:t> A Judge Agent issues the final security verdict, filtering out background noise to deliver a highly accurate logic-flaw report.</a:t>
            </a:r>
            <a:endParaRPr sz="1400"/>
          </a:p>
        </p:txBody>
      </p:sp>
      <p:grpSp>
        <p:nvGrpSpPr>
          <p:cNvPr id="559" name="Google Shape;559;p64"/>
          <p:cNvGrpSpPr/>
          <p:nvPr/>
        </p:nvGrpSpPr>
        <p:grpSpPr>
          <a:xfrm>
            <a:off x="6669394" y="1233289"/>
            <a:ext cx="750966" cy="862557"/>
            <a:chOff x="6071775" y="2386700"/>
            <a:chExt cx="1308075" cy="1502450"/>
          </a:xfrm>
        </p:grpSpPr>
        <p:sp>
          <p:nvSpPr>
            <p:cNvPr descr="A lightbulb icon." id="560" name="Google Shape;560;p64"/>
            <p:cNvSpPr/>
            <p:nvPr/>
          </p:nvSpPr>
          <p:spPr>
            <a:xfrm>
              <a:off x="6338375" y="2650600"/>
              <a:ext cx="774875" cy="924700"/>
            </a:xfrm>
            <a:custGeom>
              <a:rect b="b" l="l" r="r" t="t"/>
              <a:pathLst>
                <a:path extrusionOk="0" h="36988" w="30995">
                  <a:moveTo>
                    <a:pt x="15498" y="2457"/>
                  </a:moveTo>
                  <a:cubicBezTo>
                    <a:pt x="22679" y="2457"/>
                    <a:pt x="28538" y="8316"/>
                    <a:pt x="28538" y="15497"/>
                  </a:cubicBezTo>
                  <a:cubicBezTo>
                    <a:pt x="28538" y="18845"/>
                    <a:pt x="27269" y="22031"/>
                    <a:pt x="24974" y="24434"/>
                  </a:cubicBezTo>
                  <a:cubicBezTo>
                    <a:pt x="24920" y="24515"/>
                    <a:pt x="24839" y="24596"/>
                    <a:pt x="24758" y="24677"/>
                  </a:cubicBezTo>
                  <a:cubicBezTo>
                    <a:pt x="21653" y="27971"/>
                    <a:pt x="21059" y="32371"/>
                    <a:pt x="20978" y="34531"/>
                  </a:cubicBezTo>
                  <a:lnTo>
                    <a:pt x="10017" y="34531"/>
                  </a:lnTo>
                  <a:cubicBezTo>
                    <a:pt x="9936" y="32371"/>
                    <a:pt x="9342" y="27944"/>
                    <a:pt x="6210" y="24650"/>
                  </a:cubicBezTo>
                  <a:cubicBezTo>
                    <a:pt x="6210" y="24650"/>
                    <a:pt x="6183" y="24623"/>
                    <a:pt x="6183" y="24623"/>
                  </a:cubicBezTo>
                  <a:cubicBezTo>
                    <a:pt x="6129" y="24569"/>
                    <a:pt x="6075" y="24488"/>
                    <a:pt x="6021" y="24434"/>
                  </a:cubicBezTo>
                  <a:cubicBezTo>
                    <a:pt x="3726" y="22031"/>
                    <a:pt x="2457" y="18845"/>
                    <a:pt x="2457" y="15497"/>
                  </a:cubicBezTo>
                  <a:cubicBezTo>
                    <a:pt x="2457" y="8316"/>
                    <a:pt x="8316" y="2457"/>
                    <a:pt x="15498" y="2457"/>
                  </a:cubicBezTo>
                  <a:close/>
                  <a:moveTo>
                    <a:pt x="15498" y="1"/>
                  </a:moveTo>
                  <a:cubicBezTo>
                    <a:pt x="6966" y="1"/>
                    <a:pt x="1" y="6966"/>
                    <a:pt x="1" y="15497"/>
                  </a:cubicBezTo>
                  <a:cubicBezTo>
                    <a:pt x="1" y="19493"/>
                    <a:pt x="1513" y="23273"/>
                    <a:pt x="4239" y="26135"/>
                  </a:cubicBezTo>
                  <a:cubicBezTo>
                    <a:pt x="4239" y="26135"/>
                    <a:pt x="4239" y="26135"/>
                    <a:pt x="4266" y="26162"/>
                  </a:cubicBezTo>
                  <a:cubicBezTo>
                    <a:pt x="4293" y="26216"/>
                    <a:pt x="4347" y="26270"/>
                    <a:pt x="4374" y="26297"/>
                  </a:cubicBezTo>
                  <a:cubicBezTo>
                    <a:pt x="4374" y="26297"/>
                    <a:pt x="4374" y="26297"/>
                    <a:pt x="4401" y="26324"/>
                  </a:cubicBezTo>
                  <a:cubicBezTo>
                    <a:pt x="7884" y="29995"/>
                    <a:pt x="7560" y="35638"/>
                    <a:pt x="7560" y="35692"/>
                  </a:cubicBezTo>
                  <a:cubicBezTo>
                    <a:pt x="7560" y="35692"/>
                    <a:pt x="7560" y="35692"/>
                    <a:pt x="7479" y="36988"/>
                  </a:cubicBezTo>
                  <a:lnTo>
                    <a:pt x="23516" y="36988"/>
                  </a:lnTo>
                  <a:cubicBezTo>
                    <a:pt x="23516" y="36988"/>
                    <a:pt x="23516" y="36988"/>
                    <a:pt x="23435" y="35692"/>
                  </a:cubicBezTo>
                  <a:cubicBezTo>
                    <a:pt x="23435" y="35638"/>
                    <a:pt x="23111" y="29995"/>
                    <a:pt x="26567" y="26351"/>
                  </a:cubicBezTo>
                  <a:cubicBezTo>
                    <a:pt x="26567" y="26351"/>
                    <a:pt x="26567" y="26351"/>
                    <a:pt x="26594" y="26324"/>
                  </a:cubicBezTo>
                  <a:cubicBezTo>
                    <a:pt x="26621" y="26270"/>
                    <a:pt x="26675" y="26216"/>
                    <a:pt x="26729" y="26162"/>
                  </a:cubicBezTo>
                  <a:cubicBezTo>
                    <a:pt x="26729" y="26162"/>
                    <a:pt x="26729" y="26162"/>
                    <a:pt x="26756" y="26135"/>
                  </a:cubicBezTo>
                  <a:cubicBezTo>
                    <a:pt x="29483" y="23246"/>
                    <a:pt x="30995" y="19466"/>
                    <a:pt x="30995" y="15497"/>
                  </a:cubicBezTo>
                  <a:cubicBezTo>
                    <a:pt x="30995" y="6966"/>
                    <a:pt x="24029" y="1"/>
                    <a:pt x="154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61" name="Google Shape;561;p64"/>
            <p:cNvSpPr/>
            <p:nvPr/>
          </p:nvSpPr>
          <p:spPr>
            <a:xfrm>
              <a:off x="6528725" y="3618475"/>
              <a:ext cx="394200" cy="61450"/>
            </a:xfrm>
            <a:custGeom>
              <a:rect b="b" l="l" r="r" t="t"/>
              <a:pathLst>
                <a:path extrusionOk="0" h="2458" w="15768">
                  <a:moveTo>
                    <a:pt x="0" y="1"/>
                  </a:moveTo>
                  <a:lnTo>
                    <a:pt x="0" y="2458"/>
                  </a:lnTo>
                  <a:lnTo>
                    <a:pt x="15767" y="2458"/>
                  </a:lnTo>
                  <a:lnTo>
                    <a:pt x="157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62" name="Google Shape;562;p64"/>
            <p:cNvSpPr/>
            <p:nvPr/>
          </p:nvSpPr>
          <p:spPr>
            <a:xfrm>
              <a:off x="6528725" y="3723100"/>
              <a:ext cx="394200" cy="61450"/>
            </a:xfrm>
            <a:custGeom>
              <a:rect b="b" l="l" r="r" t="t"/>
              <a:pathLst>
                <a:path extrusionOk="0" h="2458" w="15768">
                  <a:moveTo>
                    <a:pt x="0" y="0"/>
                  </a:moveTo>
                  <a:lnTo>
                    <a:pt x="0" y="2457"/>
                  </a:lnTo>
                  <a:lnTo>
                    <a:pt x="15767" y="2457"/>
                  </a:lnTo>
                  <a:lnTo>
                    <a:pt x="157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63" name="Google Shape;563;p64"/>
            <p:cNvSpPr/>
            <p:nvPr/>
          </p:nvSpPr>
          <p:spPr>
            <a:xfrm>
              <a:off x="6607675" y="3827725"/>
              <a:ext cx="236275" cy="61425"/>
            </a:xfrm>
            <a:custGeom>
              <a:rect b="b" l="l" r="r" t="t"/>
              <a:pathLst>
                <a:path extrusionOk="0" h="2457" w="9451">
                  <a:moveTo>
                    <a:pt x="1" y="0"/>
                  </a:moveTo>
                  <a:lnTo>
                    <a:pt x="1" y="2457"/>
                  </a:lnTo>
                  <a:lnTo>
                    <a:pt x="9450" y="2457"/>
                  </a:lnTo>
                  <a:lnTo>
                    <a:pt x="94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64" name="Google Shape;564;p64"/>
            <p:cNvSpPr/>
            <p:nvPr/>
          </p:nvSpPr>
          <p:spPr>
            <a:xfrm>
              <a:off x="6241850" y="3352550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5158" y="1"/>
                  </a:moveTo>
                  <a:lnTo>
                    <a:pt x="1" y="5157"/>
                  </a:lnTo>
                  <a:lnTo>
                    <a:pt x="1729" y="6912"/>
                  </a:lnTo>
                  <a:lnTo>
                    <a:pt x="6885" y="1728"/>
                  </a:lnTo>
                  <a:lnTo>
                    <a:pt x="5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65" name="Google Shape;565;p64"/>
            <p:cNvSpPr/>
            <p:nvPr/>
          </p:nvSpPr>
          <p:spPr>
            <a:xfrm>
              <a:off x="6071775" y="3010350"/>
              <a:ext cx="182925" cy="61450"/>
            </a:xfrm>
            <a:custGeom>
              <a:rect b="b" l="l" r="r" t="t"/>
              <a:pathLst>
                <a:path extrusionOk="0" h="2458" w="7317">
                  <a:moveTo>
                    <a:pt x="0" y="1"/>
                  </a:moveTo>
                  <a:lnTo>
                    <a:pt x="0" y="2457"/>
                  </a:lnTo>
                  <a:lnTo>
                    <a:pt x="7317" y="2457"/>
                  </a:lnTo>
                  <a:lnTo>
                    <a:pt x="7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66" name="Google Shape;566;p64"/>
            <p:cNvSpPr/>
            <p:nvPr/>
          </p:nvSpPr>
          <p:spPr>
            <a:xfrm>
              <a:off x="6241850" y="2556775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1729" y="1"/>
                  </a:moveTo>
                  <a:lnTo>
                    <a:pt x="1" y="1729"/>
                  </a:lnTo>
                  <a:lnTo>
                    <a:pt x="5158" y="6912"/>
                  </a:lnTo>
                  <a:lnTo>
                    <a:pt x="6885" y="5158"/>
                  </a:lnTo>
                  <a:lnTo>
                    <a:pt x="17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67" name="Google Shape;567;p64"/>
            <p:cNvSpPr/>
            <p:nvPr/>
          </p:nvSpPr>
          <p:spPr>
            <a:xfrm>
              <a:off x="6694750" y="2386700"/>
              <a:ext cx="62125" cy="182925"/>
            </a:xfrm>
            <a:custGeom>
              <a:rect b="b" l="l" r="r" t="t"/>
              <a:pathLst>
                <a:path extrusionOk="0" h="7317" w="2485">
                  <a:moveTo>
                    <a:pt x="1" y="0"/>
                  </a:moveTo>
                  <a:lnTo>
                    <a:pt x="1" y="7317"/>
                  </a:lnTo>
                  <a:lnTo>
                    <a:pt x="2485" y="7317"/>
                  </a:lnTo>
                  <a:lnTo>
                    <a:pt x="24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68" name="Google Shape;568;p64"/>
            <p:cNvSpPr/>
            <p:nvPr/>
          </p:nvSpPr>
          <p:spPr>
            <a:xfrm>
              <a:off x="7037625" y="2556775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5158" y="1"/>
                  </a:moveTo>
                  <a:lnTo>
                    <a:pt x="1" y="5158"/>
                  </a:lnTo>
                  <a:lnTo>
                    <a:pt x="1729" y="6912"/>
                  </a:lnTo>
                  <a:lnTo>
                    <a:pt x="6885" y="1729"/>
                  </a:lnTo>
                  <a:lnTo>
                    <a:pt x="51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69" name="Google Shape;569;p64"/>
            <p:cNvSpPr/>
            <p:nvPr/>
          </p:nvSpPr>
          <p:spPr>
            <a:xfrm>
              <a:off x="7196925" y="3010350"/>
              <a:ext cx="182925" cy="61450"/>
            </a:xfrm>
            <a:custGeom>
              <a:rect b="b" l="l" r="r" t="t"/>
              <a:pathLst>
                <a:path extrusionOk="0" h="2458" w="7317">
                  <a:moveTo>
                    <a:pt x="0" y="1"/>
                  </a:moveTo>
                  <a:lnTo>
                    <a:pt x="0" y="2457"/>
                  </a:lnTo>
                  <a:lnTo>
                    <a:pt x="7317" y="2457"/>
                  </a:lnTo>
                  <a:lnTo>
                    <a:pt x="731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70" name="Google Shape;570;p64"/>
            <p:cNvSpPr/>
            <p:nvPr/>
          </p:nvSpPr>
          <p:spPr>
            <a:xfrm>
              <a:off x="7037625" y="3352550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1729" y="1"/>
                  </a:moveTo>
                  <a:lnTo>
                    <a:pt x="1" y="1728"/>
                  </a:lnTo>
                  <a:lnTo>
                    <a:pt x="5158" y="6912"/>
                  </a:lnTo>
                  <a:lnTo>
                    <a:pt x="6885" y="5157"/>
                  </a:lnTo>
                  <a:lnTo>
                    <a:pt x="17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71" name="Google Shape;571;p64"/>
            <p:cNvSpPr/>
            <p:nvPr/>
          </p:nvSpPr>
          <p:spPr>
            <a:xfrm>
              <a:off x="6584750" y="3015075"/>
              <a:ext cx="282150" cy="195075"/>
            </a:xfrm>
            <a:custGeom>
              <a:rect b="b" l="l" r="r" t="t"/>
              <a:pathLst>
                <a:path extrusionOk="0" h="7803" w="11286">
                  <a:moveTo>
                    <a:pt x="9557" y="1"/>
                  </a:moveTo>
                  <a:lnTo>
                    <a:pt x="5238" y="4320"/>
                  </a:lnTo>
                  <a:lnTo>
                    <a:pt x="1728" y="810"/>
                  </a:lnTo>
                  <a:lnTo>
                    <a:pt x="0" y="2565"/>
                  </a:lnTo>
                  <a:lnTo>
                    <a:pt x="5238" y="7803"/>
                  </a:lnTo>
                  <a:lnTo>
                    <a:pt x="11285" y="1755"/>
                  </a:lnTo>
                  <a:lnTo>
                    <a:pt x="95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  <p:grpSp>
        <p:nvGrpSpPr>
          <p:cNvPr id="572" name="Google Shape;572;p64"/>
          <p:cNvGrpSpPr/>
          <p:nvPr/>
        </p:nvGrpSpPr>
        <p:grpSpPr>
          <a:xfrm>
            <a:off x="6669394" y="3260464"/>
            <a:ext cx="750966" cy="862557"/>
            <a:chOff x="6071775" y="2386700"/>
            <a:chExt cx="1308075" cy="1502450"/>
          </a:xfrm>
        </p:grpSpPr>
        <p:sp>
          <p:nvSpPr>
            <p:cNvPr id="573" name="Google Shape;573;p64"/>
            <p:cNvSpPr/>
            <p:nvPr/>
          </p:nvSpPr>
          <p:spPr>
            <a:xfrm>
              <a:off x="6338375" y="2650600"/>
              <a:ext cx="774875" cy="924700"/>
            </a:xfrm>
            <a:custGeom>
              <a:rect b="b" l="l" r="r" t="t"/>
              <a:pathLst>
                <a:path extrusionOk="0" h="36988" w="30995">
                  <a:moveTo>
                    <a:pt x="15498" y="2457"/>
                  </a:moveTo>
                  <a:cubicBezTo>
                    <a:pt x="22679" y="2457"/>
                    <a:pt x="28538" y="8316"/>
                    <a:pt x="28538" y="15497"/>
                  </a:cubicBezTo>
                  <a:cubicBezTo>
                    <a:pt x="28538" y="18845"/>
                    <a:pt x="27269" y="22031"/>
                    <a:pt x="24974" y="24434"/>
                  </a:cubicBezTo>
                  <a:cubicBezTo>
                    <a:pt x="24920" y="24515"/>
                    <a:pt x="24839" y="24596"/>
                    <a:pt x="24758" y="24677"/>
                  </a:cubicBezTo>
                  <a:cubicBezTo>
                    <a:pt x="21653" y="27971"/>
                    <a:pt x="21059" y="32371"/>
                    <a:pt x="20978" y="34531"/>
                  </a:cubicBezTo>
                  <a:lnTo>
                    <a:pt x="10017" y="34531"/>
                  </a:lnTo>
                  <a:cubicBezTo>
                    <a:pt x="9936" y="32371"/>
                    <a:pt x="9342" y="27944"/>
                    <a:pt x="6210" y="24650"/>
                  </a:cubicBezTo>
                  <a:cubicBezTo>
                    <a:pt x="6210" y="24650"/>
                    <a:pt x="6183" y="24623"/>
                    <a:pt x="6183" y="24623"/>
                  </a:cubicBezTo>
                  <a:cubicBezTo>
                    <a:pt x="6129" y="24569"/>
                    <a:pt x="6075" y="24488"/>
                    <a:pt x="6021" y="24434"/>
                  </a:cubicBezTo>
                  <a:cubicBezTo>
                    <a:pt x="3726" y="22031"/>
                    <a:pt x="2457" y="18845"/>
                    <a:pt x="2457" y="15497"/>
                  </a:cubicBezTo>
                  <a:cubicBezTo>
                    <a:pt x="2457" y="8316"/>
                    <a:pt x="8316" y="2457"/>
                    <a:pt x="15498" y="2457"/>
                  </a:cubicBezTo>
                  <a:close/>
                  <a:moveTo>
                    <a:pt x="15498" y="1"/>
                  </a:moveTo>
                  <a:cubicBezTo>
                    <a:pt x="6966" y="1"/>
                    <a:pt x="1" y="6966"/>
                    <a:pt x="1" y="15497"/>
                  </a:cubicBezTo>
                  <a:cubicBezTo>
                    <a:pt x="1" y="19493"/>
                    <a:pt x="1513" y="23273"/>
                    <a:pt x="4239" y="26135"/>
                  </a:cubicBezTo>
                  <a:cubicBezTo>
                    <a:pt x="4239" y="26135"/>
                    <a:pt x="4239" y="26135"/>
                    <a:pt x="4266" y="26162"/>
                  </a:cubicBezTo>
                  <a:cubicBezTo>
                    <a:pt x="4293" y="26216"/>
                    <a:pt x="4347" y="26270"/>
                    <a:pt x="4374" y="26297"/>
                  </a:cubicBezTo>
                  <a:cubicBezTo>
                    <a:pt x="4374" y="26297"/>
                    <a:pt x="4374" y="26297"/>
                    <a:pt x="4401" y="26324"/>
                  </a:cubicBezTo>
                  <a:cubicBezTo>
                    <a:pt x="7884" y="29995"/>
                    <a:pt x="7560" y="35638"/>
                    <a:pt x="7560" y="35692"/>
                  </a:cubicBezTo>
                  <a:cubicBezTo>
                    <a:pt x="7560" y="35692"/>
                    <a:pt x="7560" y="35692"/>
                    <a:pt x="7479" y="36988"/>
                  </a:cubicBezTo>
                  <a:lnTo>
                    <a:pt x="23516" y="36988"/>
                  </a:lnTo>
                  <a:cubicBezTo>
                    <a:pt x="23516" y="36988"/>
                    <a:pt x="23516" y="36988"/>
                    <a:pt x="23435" y="35692"/>
                  </a:cubicBezTo>
                  <a:cubicBezTo>
                    <a:pt x="23435" y="35638"/>
                    <a:pt x="23111" y="29995"/>
                    <a:pt x="26567" y="26351"/>
                  </a:cubicBezTo>
                  <a:cubicBezTo>
                    <a:pt x="26567" y="26351"/>
                    <a:pt x="26567" y="26351"/>
                    <a:pt x="26594" y="26324"/>
                  </a:cubicBezTo>
                  <a:cubicBezTo>
                    <a:pt x="26621" y="26270"/>
                    <a:pt x="26675" y="26216"/>
                    <a:pt x="26729" y="26162"/>
                  </a:cubicBezTo>
                  <a:cubicBezTo>
                    <a:pt x="26729" y="26162"/>
                    <a:pt x="26729" y="26162"/>
                    <a:pt x="26756" y="26135"/>
                  </a:cubicBezTo>
                  <a:cubicBezTo>
                    <a:pt x="29483" y="23246"/>
                    <a:pt x="30995" y="19466"/>
                    <a:pt x="30995" y="15497"/>
                  </a:cubicBezTo>
                  <a:cubicBezTo>
                    <a:pt x="30995" y="6966"/>
                    <a:pt x="24029" y="1"/>
                    <a:pt x="154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74" name="Google Shape;574;p64"/>
            <p:cNvSpPr/>
            <p:nvPr/>
          </p:nvSpPr>
          <p:spPr>
            <a:xfrm>
              <a:off x="6528725" y="3618475"/>
              <a:ext cx="394200" cy="61450"/>
            </a:xfrm>
            <a:custGeom>
              <a:rect b="b" l="l" r="r" t="t"/>
              <a:pathLst>
                <a:path extrusionOk="0" h="2458" w="15768">
                  <a:moveTo>
                    <a:pt x="0" y="1"/>
                  </a:moveTo>
                  <a:lnTo>
                    <a:pt x="0" y="2458"/>
                  </a:lnTo>
                  <a:lnTo>
                    <a:pt x="15767" y="2458"/>
                  </a:lnTo>
                  <a:lnTo>
                    <a:pt x="157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75" name="Google Shape;575;p64"/>
            <p:cNvSpPr/>
            <p:nvPr/>
          </p:nvSpPr>
          <p:spPr>
            <a:xfrm>
              <a:off x="6528725" y="3723100"/>
              <a:ext cx="394200" cy="61450"/>
            </a:xfrm>
            <a:custGeom>
              <a:rect b="b" l="l" r="r" t="t"/>
              <a:pathLst>
                <a:path extrusionOk="0" h="2458" w="15768">
                  <a:moveTo>
                    <a:pt x="0" y="0"/>
                  </a:moveTo>
                  <a:lnTo>
                    <a:pt x="0" y="2457"/>
                  </a:lnTo>
                  <a:lnTo>
                    <a:pt x="15767" y="2457"/>
                  </a:lnTo>
                  <a:lnTo>
                    <a:pt x="157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76" name="Google Shape;576;p64"/>
            <p:cNvSpPr/>
            <p:nvPr/>
          </p:nvSpPr>
          <p:spPr>
            <a:xfrm>
              <a:off x="6607675" y="3827725"/>
              <a:ext cx="236275" cy="61425"/>
            </a:xfrm>
            <a:custGeom>
              <a:rect b="b" l="l" r="r" t="t"/>
              <a:pathLst>
                <a:path extrusionOk="0" h="2457" w="9451">
                  <a:moveTo>
                    <a:pt x="1" y="0"/>
                  </a:moveTo>
                  <a:lnTo>
                    <a:pt x="1" y="2457"/>
                  </a:lnTo>
                  <a:lnTo>
                    <a:pt x="9450" y="2457"/>
                  </a:lnTo>
                  <a:lnTo>
                    <a:pt x="94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77" name="Google Shape;577;p64"/>
            <p:cNvSpPr/>
            <p:nvPr/>
          </p:nvSpPr>
          <p:spPr>
            <a:xfrm>
              <a:off x="6241850" y="3352550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5158" y="1"/>
                  </a:moveTo>
                  <a:lnTo>
                    <a:pt x="1" y="5157"/>
                  </a:lnTo>
                  <a:lnTo>
                    <a:pt x="1729" y="6912"/>
                  </a:lnTo>
                  <a:lnTo>
                    <a:pt x="6885" y="1728"/>
                  </a:lnTo>
                  <a:lnTo>
                    <a:pt x="51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78" name="Google Shape;578;p64"/>
            <p:cNvSpPr/>
            <p:nvPr/>
          </p:nvSpPr>
          <p:spPr>
            <a:xfrm>
              <a:off x="6071775" y="3010350"/>
              <a:ext cx="182925" cy="61450"/>
            </a:xfrm>
            <a:custGeom>
              <a:rect b="b" l="l" r="r" t="t"/>
              <a:pathLst>
                <a:path extrusionOk="0" h="2458" w="7317">
                  <a:moveTo>
                    <a:pt x="0" y="1"/>
                  </a:moveTo>
                  <a:lnTo>
                    <a:pt x="0" y="2457"/>
                  </a:lnTo>
                  <a:lnTo>
                    <a:pt x="7317" y="2457"/>
                  </a:lnTo>
                  <a:lnTo>
                    <a:pt x="73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79" name="Google Shape;579;p64"/>
            <p:cNvSpPr/>
            <p:nvPr/>
          </p:nvSpPr>
          <p:spPr>
            <a:xfrm>
              <a:off x="6241850" y="2556775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1729" y="1"/>
                  </a:moveTo>
                  <a:lnTo>
                    <a:pt x="1" y="1729"/>
                  </a:lnTo>
                  <a:lnTo>
                    <a:pt x="5158" y="6912"/>
                  </a:lnTo>
                  <a:lnTo>
                    <a:pt x="6885" y="5158"/>
                  </a:lnTo>
                  <a:lnTo>
                    <a:pt x="17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80" name="Google Shape;580;p64"/>
            <p:cNvSpPr/>
            <p:nvPr/>
          </p:nvSpPr>
          <p:spPr>
            <a:xfrm>
              <a:off x="6694750" y="2386700"/>
              <a:ext cx="62125" cy="182925"/>
            </a:xfrm>
            <a:custGeom>
              <a:rect b="b" l="l" r="r" t="t"/>
              <a:pathLst>
                <a:path extrusionOk="0" h="7317" w="2485">
                  <a:moveTo>
                    <a:pt x="1" y="0"/>
                  </a:moveTo>
                  <a:lnTo>
                    <a:pt x="1" y="7317"/>
                  </a:lnTo>
                  <a:lnTo>
                    <a:pt x="2485" y="7317"/>
                  </a:lnTo>
                  <a:lnTo>
                    <a:pt x="248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81" name="Google Shape;581;p64"/>
            <p:cNvSpPr/>
            <p:nvPr/>
          </p:nvSpPr>
          <p:spPr>
            <a:xfrm>
              <a:off x="7037625" y="2556775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5158" y="1"/>
                  </a:moveTo>
                  <a:lnTo>
                    <a:pt x="1" y="5158"/>
                  </a:lnTo>
                  <a:lnTo>
                    <a:pt x="1729" y="6912"/>
                  </a:lnTo>
                  <a:lnTo>
                    <a:pt x="6885" y="1729"/>
                  </a:lnTo>
                  <a:lnTo>
                    <a:pt x="51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82" name="Google Shape;582;p64"/>
            <p:cNvSpPr/>
            <p:nvPr/>
          </p:nvSpPr>
          <p:spPr>
            <a:xfrm>
              <a:off x="7196925" y="3010350"/>
              <a:ext cx="182925" cy="61450"/>
            </a:xfrm>
            <a:custGeom>
              <a:rect b="b" l="l" r="r" t="t"/>
              <a:pathLst>
                <a:path extrusionOk="0" h="2458" w="7317">
                  <a:moveTo>
                    <a:pt x="0" y="1"/>
                  </a:moveTo>
                  <a:lnTo>
                    <a:pt x="0" y="2457"/>
                  </a:lnTo>
                  <a:lnTo>
                    <a:pt x="7317" y="2457"/>
                  </a:lnTo>
                  <a:lnTo>
                    <a:pt x="73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83" name="Google Shape;583;p64"/>
            <p:cNvSpPr/>
            <p:nvPr/>
          </p:nvSpPr>
          <p:spPr>
            <a:xfrm>
              <a:off x="7037625" y="3352550"/>
              <a:ext cx="172150" cy="172825"/>
            </a:xfrm>
            <a:custGeom>
              <a:rect b="b" l="l" r="r" t="t"/>
              <a:pathLst>
                <a:path extrusionOk="0" h="6913" w="6886">
                  <a:moveTo>
                    <a:pt x="1729" y="1"/>
                  </a:moveTo>
                  <a:lnTo>
                    <a:pt x="1" y="1728"/>
                  </a:lnTo>
                  <a:lnTo>
                    <a:pt x="5158" y="6912"/>
                  </a:lnTo>
                  <a:lnTo>
                    <a:pt x="6885" y="5157"/>
                  </a:lnTo>
                  <a:lnTo>
                    <a:pt x="172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  <p:sp>
          <p:nvSpPr>
            <p:cNvPr id="584" name="Google Shape;584;p64"/>
            <p:cNvSpPr/>
            <p:nvPr/>
          </p:nvSpPr>
          <p:spPr>
            <a:xfrm>
              <a:off x="6584750" y="3015075"/>
              <a:ext cx="282150" cy="195075"/>
            </a:xfrm>
            <a:custGeom>
              <a:rect b="b" l="l" r="r" t="t"/>
              <a:pathLst>
                <a:path extrusionOk="0" h="7803" w="11286">
                  <a:moveTo>
                    <a:pt x="9557" y="1"/>
                  </a:moveTo>
                  <a:lnTo>
                    <a:pt x="5238" y="4320"/>
                  </a:lnTo>
                  <a:lnTo>
                    <a:pt x="1728" y="810"/>
                  </a:lnTo>
                  <a:lnTo>
                    <a:pt x="0" y="2565"/>
                  </a:lnTo>
                  <a:lnTo>
                    <a:pt x="5238" y="7803"/>
                  </a:lnTo>
                  <a:lnTo>
                    <a:pt x="11285" y="1755"/>
                  </a:lnTo>
                  <a:lnTo>
                    <a:pt x="955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5"/>
          <p:cNvSpPr txBox="1"/>
          <p:nvPr>
            <p:ph type="title"/>
          </p:nvPr>
        </p:nvSpPr>
        <p:spPr>
          <a:xfrm>
            <a:off x="714075" y="58350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GB" sz="3600"/>
              <a:t>Functional Requirements</a:t>
            </a:r>
            <a:endParaRPr sz="3000"/>
          </a:p>
        </p:txBody>
      </p:sp>
      <p:sp>
        <p:nvSpPr>
          <p:cNvPr id="590" name="Google Shape;590;p65"/>
          <p:cNvSpPr txBox="1"/>
          <p:nvPr>
            <p:ph idx="3" type="body"/>
          </p:nvPr>
        </p:nvSpPr>
        <p:spPr>
          <a:xfrm>
            <a:off x="507300" y="2105300"/>
            <a:ext cx="1600200" cy="19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1.</a:t>
            </a:r>
            <a:endParaRPr b="1" sz="1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The system must accept local Solidity file paths or folder directories via a custom CLI command.</a:t>
            </a:r>
            <a:endParaRPr/>
          </a:p>
        </p:txBody>
      </p:sp>
      <p:sp>
        <p:nvSpPr>
          <p:cNvPr id="591" name="Google Shape;591;p65"/>
          <p:cNvSpPr txBox="1"/>
          <p:nvPr>
            <p:ph idx="5" type="body"/>
          </p:nvPr>
        </p:nvSpPr>
        <p:spPr>
          <a:xfrm>
            <a:off x="2568575" y="2004050"/>
            <a:ext cx="1722300" cy="19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2.</a:t>
            </a:r>
            <a:endParaRPr b="1" sz="1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The system must run foundational static analysis to generate code telemetry.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65"/>
          <p:cNvSpPr txBox="1"/>
          <p:nvPr>
            <p:ph idx="7" type="body"/>
          </p:nvPr>
        </p:nvSpPr>
        <p:spPr>
          <a:xfrm>
            <a:off x="4712238" y="2004050"/>
            <a:ext cx="1722300" cy="19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3.</a:t>
            </a:r>
            <a:endParaRPr b="1" sz="1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The system must orchestrate an internal debate between Prosecutor and Defender agents.</a:t>
            </a:r>
            <a:endParaRPr/>
          </a:p>
        </p:txBody>
      </p:sp>
      <p:sp>
        <p:nvSpPr>
          <p:cNvPr id="593" name="Google Shape;593;p65"/>
          <p:cNvSpPr txBox="1"/>
          <p:nvPr>
            <p:ph idx="9" type="body"/>
          </p:nvPr>
        </p:nvSpPr>
        <p:spPr>
          <a:xfrm>
            <a:off x="6855925" y="2024300"/>
            <a:ext cx="1722300" cy="195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4.</a:t>
            </a:r>
            <a:endParaRPr b="1" sz="1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The system must output a final verified security verdict with detailed logical reasoning for any discovered flaws.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6"/>
          <p:cNvSpPr txBox="1"/>
          <p:nvPr>
            <p:ph idx="4294967295" type="title"/>
          </p:nvPr>
        </p:nvSpPr>
        <p:spPr>
          <a:xfrm>
            <a:off x="1165425" y="583500"/>
            <a:ext cx="6883800" cy="1039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Non </a:t>
            </a:r>
            <a:r>
              <a:rPr lang="en-GB" sz="3600"/>
              <a:t>Functional Requirements</a:t>
            </a:r>
            <a:endParaRPr sz="3000"/>
          </a:p>
        </p:txBody>
      </p:sp>
      <p:sp>
        <p:nvSpPr>
          <p:cNvPr id="599" name="Google Shape;599;p66"/>
          <p:cNvSpPr txBox="1"/>
          <p:nvPr>
            <p:ph idx="4294967295" type="body"/>
          </p:nvPr>
        </p:nvSpPr>
        <p:spPr>
          <a:xfrm>
            <a:off x="3771900" y="2155925"/>
            <a:ext cx="1600200" cy="195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Usability </a:t>
            </a:r>
            <a:endParaRPr b="1"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Must function as a clean, interactive Terminal User Interface (TUI) without printing cluttered backend agent logs. </a:t>
            </a:r>
            <a:endParaRPr/>
          </a:p>
        </p:txBody>
      </p:sp>
      <p:sp>
        <p:nvSpPr>
          <p:cNvPr id="600" name="Google Shape;600;p66"/>
          <p:cNvSpPr txBox="1"/>
          <p:nvPr>
            <p:ph idx="4294967295" type="body"/>
          </p:nvPr>
        </p:nvSpPr>
        <p:spPr>
          <a:xfrm>
            <a:off x="1613775" y="2155925"/>
            <a:ext cx="1722300" cy="195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Performance </a:t>
            </a:r>
            <a:endParaRPr b="1" sz="1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Must execute quickly and stream responses asynchronously to avoid terminal freezing. </a:t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66"/>
          <p:cNvSpPr txBox="1"/>
          <p:nvPr>
            <p:ph idx="4294967295" type="body"/>
          </p:nvPr>
        </p:nvSpPr>
        <p:spPr>
          <a:xfrm>
            <a:off x="5807913" y="2054675"/>
            <a:ext cx="1722300" cy="195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Deployability </a:t>
            </a:r>
            <a:endParaRPr b="1" sz="1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Must be packaged as a standalone executable file requiring zero external dependencies.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7"/>
          <p:cNvSpPr/>
          <p:nvPr/>
        </p:nvSpPr>
        <p:spPr>
          <a:xfrm>
            <a:off x="464175" y="1919000"/>
            <a:ext cx="2751000" cy="2810400"/>
          </a:xfrm>
          <a:prstGeom prst="snip1Rect">
            <a:avLst>
              <a:gd fmla="val 767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07" name="Google Shape;607;p67"/>
          <p:cNvSpPr/>
          <p:nvPr/>
        </p:nvSpPr>
        <p:spPr>
          <a:xfrm>
            <a:off x="3201749" y="1919001"/>
            <a:ext cx="2740500" cy="2810400"/>
          </a:xfrm>
          <a:prstGeom prst="snip1Rect">
            <a:avLst>
              <a:gd fmla="val 7916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08" name="Google Shape;608;p67"/>
          <p:cNvSpPr/>
          <p:nvPr/>
        </p:nvSpPr>
        <p:spPr>
          <a:xfrm>
            <a:off x="5935963" y="1919000"/>
            <a:ext cx="2740500" cy="2810400"/>
          </a:xfrm>
          <a:prstGeom prst="snip1Rect">
            <a:avLst>
              <a:gd fmla="val 7819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09" name="Google Shape;609;p67"/>
          <p:cNvSpPr/>
          <p:nvPr/>
        </p:nvSpPr>
        <p:spPr>
          <a:xfrm>
            <a:off x="459075" y="3434550"/>
            <a:ext cx="2756100" cy="1709100"/>
          </a:xfrm>
          <a:prstGeom prst="snip1Rect">
            <a:avLst>
              <a:gd fmla="val 139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10" name="Google Shape;610;p67"/>
          <p:cNvSpPr/>
          <p:nvPr/>
        </p:nvSpPr>
        <p:spPr>
          <a:xfrm>
            <a:off x="3194625" y="3434550"/>
            <a:ext cx="2740500" cy="17091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11" name="Google Shape;611;p67"/>
          <p:cNvSpPr/>
          <p:nvPr/>
        </p:nvSpPr>
        <p:spPr>
          <a:xfrm>
            <a:off x="5928825" y="3434550"/>
            <a:ext cx="2740500" cy="1709100"/>
          </a:xfrm>
          <a:prstGeom prst="snip1Rect">
            <a:avLst>
              <a:gd fmla="val 139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12" name="Google Shape;612;p67"/>
          <p:cNvSpPr txBox="1"/>
          <p:nvPr>
            <p:ph idx="7" type="title"/>
          </p:nvPr>
        </p:nvSpPr>
        <p:spPr>
          <a:xfrm>
            <a:off x="1971300" y="696750"/>
            <a:ext cx="5502000" cy="63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>
                <a:solidFill>
                  <a:schemeClr val="accent4"/>
                </a:solidFill>
              </a:rPr>
              <a:t>Software Requirements</a:t>
            </a:r>
            <a:endParaRPr sz="3200">
              <a:solidFill>
                <a:schemeClr val="accent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accent4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3200">
              <a:solidFill>
                <a:schemeClr val="accent4"/>
              </a:solidFill>
              <a:highlight>
                <a:schemeClr val="lt1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sz="3200">
              <a:solidFill>
                <a:schemeClr val="accent4"/>
              </a:solidFill>
            </a:endParaRPr>
          </a:p>
        </p:txBody>
      </p:sp>
      <p:sp>
        <p:nvSpPr>
          <p:cNvPr id="613" name="Google Shape;613;p67"/>
          <p:cNvSpPr txBox="1"/>
          <p:nvPr>
            <p:ph idx="2" type="title"/>
          </p:nvPr>
        </p:nvSpPr>
        <p:spPr>
          <a:xfrm>
            <a:off x="705550" y="2185525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</a:rPr>
              <a:t>Operating System: </a:t>
            </a:r>
            <a:r>
              <a:rPr lang="en-GB" sz="1500">
                <a:solidFill>
                  <a:schemeClr val="dk1"/>
                </a:solidFill>
              </a:rPr>
              <a:t>Windows, macOS, or Linux (Cross-platform compatibility).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14" name="Google Shape;614;p67"/>
          <p:cNvSpPr txBox="1"/>
          <p:nvPr>
            <p:ph idx="4294967295" type="title"/>
          </p:nvPr>
        </p:nvSpPr>
        <p:spPr>
          <a:xfrm>
            <a:off x="6190550" y="2185525"/>
            <a:ext cx="1963200" cy="11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latin typeface="Lato"/>
                <a:ea typeface="Lato"/>
                <a:cs typeface="Lato"/>
                <a:sym typeface="Lato"/>
              </a:rPr>
              <a:t>Static Analysis Engine:</a:t>
            </a:r>
            <a:r>
              <a:rPr lang="en-GB" sz="1500">
                <a:latin typeface="Lato"/>
                <a:ea typeface="Lato"/>
                <a:cs typeface="Lato"/>
                <a:sym typeface="Lato"/>
              </a:rPr>
              <a:t> Slither (requires solc, the Solidity compiler, installed locally or bundled).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5" name="Google Shape;615;p67"/>
          <p:cNvSpPr txBox="1"/>
          <p:nvPr>
            <p:ph type="title"/>
          </p:nvPr>
        </p:nvSpPr>
        <p:spPr>
          <a:xfrm>
            <a:off x="705550" y="3619500"/>
            <a:ext cx="2247900" cy="12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GB" sz="1500">
                <a:solidFill>
                  <a:schemeClr val="dk1"/>
                </a:solidFill>
              </a:rPr>
              <a:t>Multi-Agent Framework: </a:t>
            </a:r>
            <a:r>
              <a:rPr lang="en-GB" sz="1500">
                <a:solidFill>
                  <a:schemeClr val="dk1"/>
                </a:solidFill>
              </a:rPr>
              <a:t>AutoGen, LangChain, or DSPy for orchestrating the Prosecutor, Defender, and Judge roles.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6" name="Google Shape;616;p67"/>
          <p:cNvSpPr txBox="1"/>
          <p:nvPr>
            <p:ph idx="4" type="title"/>
          </p:nvPr>
        </p:nvSpPr>
        <p:spPr>
          <a:xfrm>
            <a:off x="3461750" y="2185525"/>
            <a:ext cx="2247900" cy="11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GB" sz="1500">
                <a:solidFill>
                  <a:schemeClr val="dk1"/>
                </a:solidFill>
              </a:rPr>
              <a:t>Core Language:</a:t>
            </a:r>
            <a:r>
              <a:rPr lang="en-GB" sz="1500">
                <a:solidFill>
                  <a:schemeClr val="dk1"/>
                </a:solidFill>
              </a:rPr>
              <a:t> Python 3.10 or higher (for backend development and packaging).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7" name="Google Shape;617;p67"/>
          <p:cNvSpPr txBox="1"/>
          <p:nvPr>
            <p:ph idx="3" type="title"/>
          </p:nvPr>
        </p:nvSpPr>
        <p:spPr>
          <a:xfrm>
            <a:off x="3448050" y="3619500"/>
            <a:ext cx="2247900" cy="136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</a:rPr>
              <a:t>TUI &amp; CLI Libraries:</a:t>
            </a:r>
            <a:r>
              <a:rPr lang="en-GB" sz="1500">
                <a:solidFill>
                  <a:schemeClr val="dk1"/>
                </a:solidFill>
              </a:rPr>
              <a:t> Typer (for command-line architecture) and Rich / Prompt Toolkit (for the interactive terminal user interface).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8" name="Google Shape;618;p67"/>
          <p:cNvSpPr txBox="1"/>
          <p:nvPr>
            <p:ph type="title"/>
          </p:nvPr>
        </p:nvSpPr>
        <p:spPr>
          <a:xfrm>
            <a:off x="6190550" y="3619350"/>
            <a:ext cx="2247900" cy="123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Packaging Tool:</a:t>
            </a:r>
            <a:r>
              <a:rPr lang="en-GB" sz="1500">
                <a:solidFill>
                  <a:schemeClr val="dk1"/>
                </a:solidFill>
              </a:rPr>
              <a:t> PyInstaller or Briefcase (to compile the Python project into a single, downloadable standalone executable).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8"/>
          <p:cNvSpPr/>
          <p:nvPr/>
        </p:nvSpPr>
        <p:spPr>
          <a:xfrm>
            <a:off x="749800" y="0"/>
            <a:ext cx="8394200" cy="5149746"/>
          </a:xfrm>
          <a:custGeom>
            <a:rect b="b" l="l" r="r" t="t"/>
            <a:pathLst>
              <a:path extrusionOk="0" h="206444" w="335768">
                <a:moveTo>
                  <a:pt x="31959" y="0"/>
                </a:moveTo>
                <a:lnTo>
                  <a:pt x="0" y="31565"/>
                </a:lnTo>
                <a:lnTo>
                  <a:pt x="0" y="206444"/>
                </a:lnTo>
                <a:lnTo>
                  <a:pt x="335768" y="206444"/>
                </a:lnTo>
                <a:lnTo>
                  <a:pt x="335768" y="292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68"/>
          <p:cNvSpPr/>
          <p:nvPr/>
        </p:nvSpPr>
        <p:spPr>
          <a:xfrm>
            <a:off x="2556275" y="294200"/>
            <a:ext cx="6587725" cy="4878500"/>
          </a:xfrm>
          <a:custGeom>
            <a:rect b="b" l="l" r="r" t="t"/>
            <a:pathLst>
              <a:path extrusionOk="0" h="195140" w="263509">
                <a:moveTo>
                  <a:pt x="32919" y="0"/>
                </a:moveTo>
                <a:lnTo>
                  <a:pt x="0" y="32096"/>
                </a:lnTo>
                <a:lnTo>
                  <a:pt x="60" y="194886"/>
                </a:lnTo>
                <a:lnTo>
                  <a:pt x="263509" y="195140"/>
                </a:lnTo>
                <a:lnTo>
                  <a:pt x="263347" y="0"/>
                </a:lnTo>
                <a:close/>
              </a:path>
            </a:pathLst>
          </a:custGeom>
          <a:solidFill>
            <a:schemeClr val="dk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68"/>
          <p:cNvSpPr/>
          <p:nvPr/>
        </p:nvSpPr>
        <p:spPr>
          <a:xfrm>
            <a:off x="4395250" y="633675"/>
            <a:ext cx="4748750" cy="4539025"/>
          </a:xfrm>
          <a:custGeom>
            <a:rect b="b" l="l" r="r" t="t"/>
            <a:pathLst>
              <a:path extrusionOk="0" h="181561" w="189950">
                <a:moveTo>
                  <a:pt x="189950" y="104"/>
                </a:moveTo>
                <a:lnTo>
                  <a:pt x="30038" y="0"/>
                </a:lnTo>
                <a:lnTo>
                  <a:pt x="0" y="29215"/>
                </a:lnTo>
                <a:lnTo>
                  <a:pt x="466" y="181561"/>
                </a:lnTo>
                <a:lnTo>
                  <a:pt x="189950" y="181561"/>
                </a:ln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68"/>
          <p:cNvSpPr/>
          <p:nvPr/>
        </p:nvSpPr>
        <p:spPr>
          <a:xfrm>
            <a:off x="6229350" y="969000"/>
            <a:ext cx="2914650" cy="4197350"/>
          </a:xfrm>
          <a:custGeom>
            <a:rect b="b" l="l" r="r" t="t"/>
            <a:pathLst>
              <a:path extrusionOk="0" h="167894" w="116586">
                <a:moveTo>
                  <a:pt x="116582" y="166"/>
                </a:moveTo>
                <a:lnTo>
                  <a:pt x="25645" y="166"/>
                </a:lnTo>
                <a:lnTo>
                  <a:pt x="133" y="25266"/>
                </a:lnTo>
                <a:lnTo>
                  <a:pt x="0" y="167894"/>
                </a:lnTo>
                <a:lnTo>
                  <a:pt x="116383" y="167640"/>
                </a:lnTo>
                <a:lnTo>
                  <a:pt x="116586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68"/>
          <p:cNvSpPr txBox="1"/>
          <p:nvPr>
            <p:ph idx="6" type="title"/>
          </p:nvPr>
        </p:nvSpPr>
        <p:spPr>
          <a:xfrm>
            <a:off x="966625" y="2228000"/>
            <a:ext cx="1294500" cy="21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Multi-core CPU (Intel Core i5 / AMD Ryzen 5 or equivalent) to smoothly handle background static analysis parsing and agent orchestration.</a:t>
            </a:r>
            <a:endParaRPr sz="1300"/>
          </a:p>
        </p:txBody>
      </p:sp>
      <p:sp>
        <p:nvSpPr>
          <p:cNvPr id="628" name="Google Shape;628;p68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GB"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Processor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629" name="Google Shape;629;p68"/>
          <p:cNvSpPr txBox="1"/>
          <p:nvPr>
            <p:ph idx="7" type="title"/>
          </p:nvPr>
        </p:nvSpPr>
        <p:spPr>
          <a:xfrm>
            <a:off x="2768150" y="2228000"/>
            <a:ext cx="1518900" cy="19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Minimum 8 GB (16 GB recommended to ensure smooth multitasking without terminal lag during local processing).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30" name="Google Shape;630;p68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Memory (RAM)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631" name="Google Shape;631;p68"/>
          <p:cNvSpPr txBox="1"/>
          <p:nvPr>
            <p:ph idx="3" type="title"/>
          </p:nvPr>
        </p:nvSpPr>
        <p:spPr>
          <a:xfrm>
            <a:off x="466567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Storage</a:t>
            </a:r>
            <a:endParaRPr sz="1600">
              <a:solidFill>
                <a:schemeClr val="accent5"/>
              </a:solidFill>
            </a:endParaRPr>
          </a:p>
        </p:txBody>
      </p:sp>
      <p:sp>
        <p:nvSpPr>
          <p:cNvPr id="632" name="Google Shape;632;p68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GB" sz="1600">
                <a:latin typeface="Lato"/>
                <a:ea typeface="Lato"/>
                <a:cs typeface="Lato"/>
                <a:sym typeface="Lato"/>
              </a:rPr>
              <a:t>Network</a:t>
            </a:r>
            <a:endParaRPr b="1" sz="16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3" name="Google Shape;633;p68"/>
          <p:cNvSpPr txBox="1"/>
          <p:nvPr>
            <p:ph idx="13" type="title"/>
          </p:nvPr>
        </p:nvSpPr>
        <p:spPr>
          <a:xfrm>
            <a:off x="6437300" y="2228000"/>
            <a:ext cx="1244400" cy="21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Stable internet connection required for the agents to communicate with cloud-based LLM APIs (e.g., OpenAI, Anthropic).</a:t>
            </a:r>
            <a:endParaRPr sz="1300"/>
          </a:p>
        </p:txBody>
      </p:sp>
      <p:sp>
        <p:nvSpPr>
          <p:cNvPr id="634" name="Google Shape;634;p68"/>
          <p:cNvSpPr txBox="1"/>
          <p:nvPr>
            <p:ph idx="8" type="title"/>
          </p:nvPr>
        </p:nvSpPr>
        <p:spPr>
          <a:xfrm>
            <a:off x="4609425" y="2228000"/>
            <a:ext cx="1376700" cy="21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/>
              <a:t>Minimum 500 MB of free disk space for the standalone executable and local logging buffers. Solid State Drive (SSD) recommended for faster file reading/writing during code scans.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635" name="Google Shape;635;p68"/>
          <p:cNvSpPr/>
          <p:nvPr/>
        </p:nvSpPr>
        <p:spPr>
          <a:xfrm>
            <a:off x="236925" y="463775"/>
            <a:ext cx="1294500" cy="100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6" name="Google Shape;636;p68"/>
          <p:cNvSpPr/>
          <p:nvPr/>
        </p:nvSpPr>
        <p:spPr>
          <a:xfrm>
            <a:off x="2556275" y="1102175"/>
            <a:ext cx="1294500" cy="721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7" name="Google Shape;637;p68"/>
          <p:cNvSpPr/>
          <p:nvPr/>
        </p:nvSpPr>
        <p:spPr>
          <a:xfrm rot="8130543">
            <a:off x="2733713" y="550323"/>
            <a:ext cx="1169954" cy="1008301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38" name="Google Shape;638;p68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300">
                <a:solidFill>
                  <a:schemeClr val="accent5"/>
                </a:solidFill>
              </a:rPr>
              <a:t>Hardware Requirements</a:t>
            </a:r>
            <a:endParaRPr sz="33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3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33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9"/>
          <p:cNvSpPr/>
          <p:nvPr/>
        </p:nvSpPr>
        <p:spPr>
          <a:xfrm>
            <a:off x="54025" y="1521450"/>
            <a:ext cx="1948500" cy="36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44" name="Google Shape;644;p69"/>
          <p:cNvSpPr/>
          <p:nvPr/>
        </p:nvSpPr>
        <p:spPr>
          <a:xfrm>
            <a:off x="3768475" y="1521450"/>
            <a:ext cx="1754400" cy="3622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45" name="Google Shape;645;p69"/>
          <p:cNvSpPr/>
          <p:nvPr/>
        </p:nvSpPr>
        <p:spPr>
          <a:xfrm>
            <a:off x="5502525" y="1521475"/>
            <a:ext cx="1801500" cy="3622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Automating the tool to run directly inside GitHub Actions or GitLab CI, instantly blocking pull requests if a critical vulnerability is detected.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46" name="Google Shape;646;p69"/>
          <p:cNvSpPr/>
          <p:nvPr/>
        </p:nvSpPr>
        <p:spPr>
          <a:xfrm>
            <a:off x="1947913" y="1521450"/>
            <a:ext cx="1827000" cy="362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47" name="Google Shape;647;p69"/>
          <p:cNvSpPr txBox="1"/>
          <p:nvPr>
            <p:ph idx="6" type="title"/>
          </p:nvPr>
        </p:nvSpPr>
        <p:spPr>
          <a:xfrm>
            <a:off x="3912375" y="170035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Lato"/>
                <a:ea typeface="Lato"/>
                <a:cs typeface="Lato"/>
                <a:sym typeface="Lato"/>
              </a:rPr>
              <a:t>Multi-Language Support</a:t>
            </a:r>
            <a:endParaRPr sz="1500"/>
          </a:p>
        </p:txBody>
      </p:sp>
      <p:sp>
        <p:nvSpPr>
          <p:cNvPr id="648" name="Google Shape;648;p69"/>
          <p:cNvSpPr txBox="1"/>
          <p:nvPr>
            <p:ph idx="4" type="title"/>
          </p:nvPr>
        </p:nvSpPr>
        <p:spPr>
          <a:xfrm>
            <a:off x="2169800" y="170025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Lato"/>
                <a:ea typeface="Lato"/>
                <a:cs typeface="Lato"/>
                <a:sym typeface="Lato"/>
              </a:rPr>
              <a:t>Live On-Chain Scanning</a:t>
            </a:r>
            <a:endParaRPr sz="1500"/>
          </a:p>
        </p:txBody>
      </p:sp>
      <p:sp>
        <p:nvSpPr>
          <p:cNvPr id="649" name="Google Shape;649;p69"/>
          <p:cNvSpPr txBox="1"/>
          <p:nvPr>
            <p:ph idx="2" type="title"/>
          </p:nvPr>
        </p:nvSpPr>
        <p:spPr>
          <a:xfrm>
            <a:off x="275600" y="174495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latin typeface="Lato"/>
                <a:ea typeface="Lato"/>
                <a:cs typeface="Lato"/>
                <a:sym typeface="Lato"/>
              </a:rPr>
              <a:t>Automated Code Remediation</a:t>
            </a:r>
            <a:endParaRPr sz="1500"/>
          </a:p>
        </p:txBody>
      </p:sp>
      <p:sp>
        <p:nvSpPr>
          <p:cNvPr id="650" name="Google Shape;650;p69"/>
          <p:cNvSpPr txBox="1"/>
          <p:nvPr>
            <p:ph idx="3" type="subTitle"/>
          </p:nvPr>
        </p:nvSpPr>
        <p:spPr>
          <a:xfrm>
            <a:off x="2192450" y="2400200"/>
            <a:ext cx="1374300" cy="196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 sz="1400"/>
              <a:t>Expanding the system to support evaluating live, deployed smart contracts via remote blockchain APIs.</a:t>
            </a:r>
            <a:endParaRPr b="0" sz="400"/>
          </a:p>
        </p:txBody>
      </p:sp>
      <p:sp>
        <p:nvSpPr>
          <p:cNvPr id="651" name="Google Shape;651;p69"/>
          <p:cNvSpPr txBox="1"/>
          <p:nvPr>
            <p:ph idx="14" type="subTitle"/>
          </p:nvPr>
        </p:nvSpPr>
        <p:spPr>
          <a:xfrm>
            <a:off x="248100" y="2399925"/>
            <a:ext cx="1582500" cy="196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Upgrading the Judge Agent to not only detect bugs but also generate and suggest automated code-correction patches to fix the flaw instantly.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200"/>
              <a:buNone/>
            </a:pPr>
            <a:r>
              <a:t/>
            </a:r>
            <a:endParaRPr sz="200"/>
          </a:p>
        </p:txBody>
      </p:sp>
      <p:sp>
        <p:nvSpPr>
          <p:cNvPr id="652" name="Google Shape;652;p69"/>
          <p:cNvSpPr txBox="1"/>
          <p:nvPr>
            <p:ph idx="16" type="subTitle"/>
          </p:nvPr>
        </p:nvSpPr>
        <p:spPr>
          <a:xfrm>
            <a:off x="5573350" y="1700250"/>
            <a:ext cx="1557900" cy="461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/>
              <a:t>CI/CD Integration</a:t>
            </a:r>
            <a:endParaRPr sz="1500"/>
          </a:p>
        </p:txBody>
      </p:sp>
      <p:sp>
        <p:nvSpPr>
          <p:cNvPr id="653" name="Google Shape;653;p69"/>
          <p:cNvSpPr txBox="1"/>
          <p:nvPr>
            <p:ph idx="20" type="subTitle"/>
          </p:nvPr>
        </p:nvSpPr>
        <p:spPr>
          <a:xfrm>
            <a:off x="4006475" y="2334800"/>
            <a:ext cx="1411200" cy="2120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/>
              <a:t>Expanding the analysis engine to support other rapidly growing Web3 languages, such as Rust for the Solana blockchain.</a:t>
            </a:r>
            <a:endParaRPr sz="400"/>
          </a:p>
        </p:txBody>
      </p:sp>
      <p:sp>
        <p:nvSpPr>
          <p:cNvPr id="654" name="Google Shape;654;p69"/>
          <p:cNvSpPr txBox="1"/>
          <p:nvPr>
            <p:ph idx="6" type="title"/>
          </p:nvPr>
        </p:nvSpPr>
        <p:spPr>
          <a:xfrm>
            <a:off x="248100" y="689550"/>
            <a:ext cx="3221100" cy="60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0" lang="en-GB" sz="3100">
                <a:solidFill>
                  <a:schemeClr val="accent4"/>
                </a:solidFill>
              </a:rPr>
              <a:t>Future Scope</a:t>
            </a:r>
            <a:endParaRPr b="0" sz="31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70"/>
          <p:cNvSpPr txBox="1"/>
          <p:nvPr>
            <p:ph type="title"/>
          </p:nvPr>
        </p:nvSpPr>
        <p:spPr>
          <a:xfrm>
            <a:off x="565625" y="4746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660" name="Google Shape;660;p70"/>
          <p:cNvSpPr txBox="1"/>
          <p:nvPr>
            <p:ph idx="2" type="title"/>
          </p:nvPr>
        </p:nvSpPr>
        <p:spPr>
          <a:xfrm>
            <a:off x="719050" y="1183275"/>
            <a:ext cx="4418400" cy="297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The Smart Contract Security Auditor provides a highly practical, software-only deployment framework optimized for developer usability.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By grounding an adversarial LLM pipeline in concrete static-analysis telemetry, the system successfully solves the industry-wide problem of audit noise.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It streamlines developer workflows, drastically reduces false positives, and ensures a higher standard of security for decentralized applications.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1"/>
          <p:cNvSpPr txBox="1"/>
          <p:nvPr/>
        </p:nvSpPr>
        <p:spPr>
          <a:xfrm>
            <a:off x="881025" y="1784300"/>
            <a:ext cx="70194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GB" sz="48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            </a:t>
            </a:r>
            <a:r>
              <a:rPr lang="en-GB" sz="48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Thank you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